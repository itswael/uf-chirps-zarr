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344" r:id="rId5"/>
    <p:sldId id="348" r:id="rId6"/>
    <p:sldId id="349" r:id="rId7"/>
    <p:sldId id="350" r:id="rId8"/>
    <p:sldId id="355" r:id="rId9"/>
    <p:sldId id="351" r:id="rId10"/>
    <p:sldId id="352" r:id="rId11"/>
    <p:sldId id="35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D38A012-2B32-08EF-7B97-29F2AA320E6F}" name="Merritt, Amanda M. (LARC-E302)[BOOZ ALLEN HAMILTON INC]" initials="MI" userId="S::ammerrit@ndc.nasa.gov::ee5c2aef-c0af-45cd-a7b9-95c9e508441d" providerId="AD"/>
  <p188:author id="{335D67E7-E904-2B9B-9C4E-F22E0032D789}" name="Patadia, Falguni (LARC-E302)" initials="PF" userId="S::fpatadia@ndc.nasa.gov::4379c5ad-d868-4e4b-9f6a-9a42b5af6bc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AF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F8187E-589A-A638-611E-BF03F349E2B8}" v="286" dt="2026-08-03T19:23:02.865"/>
    <p1510:client id="{EB50484B-CFD1-554E-8BEF-BAF848C11EF8}" v="1" dt="2026-08-03T20:23:10.2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06"/>
    <p:restoredTop sz="94747"/>
  </p:normalViewPr>
  <p:slideViewPr>
    <p:cSldViewPr snapToGrid="0">
      <p:cViewPr varScale="1">
        <p:scale>
          <a:sx n="81" d="100"/>
          <a:sy n="81" d="100"/>
        </p:scale>
        <p:origin x="20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EB4EE-FE83-FB41-9F80-FBFA32C1184B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93AE19-7DA8-0540-87C7-DB0D2B1EB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169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1E121-12C8-A347-3761-607FDBF27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8000" b="1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B387DE-9028-BF60-7737-7ED40F4AA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65256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BEAD3-4D0C-72DE-507A-1F16DCBBE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0"/>
            <a:ext cx="10515600" cy="1233488"/>
          </a:xfrm>
          <a:prstGeom prst="rect">
            <a:avLst/>
          </a:prstGeom>
        </p:spPr>
        <p:txBody>
          <a:bodyPr/>
          <a:lstStyle>
            <a:lvl1pPr>
              <a:defRPr sz="4000" b="1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031C3-BB78-92E1-09A1-F925638D2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20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1027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4AF90-4ED8-6677-E476-07E388ECEE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251488-0378-2126-CA36-C93F4429E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44219B6-F2F2-3FAD-AB32-CC1425E06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0"/>
            <a:ext cx="10515600" cy="1233488"/>
          </a:xfrm>
          <a:prstGeom prst="rect">
            <a:avLst/>
          </a:prstGeom>
        </p:spPr>
        <p:txBody>
          <a:bodyPr/>
          <a:lstStyle>
            <a:lvl1pPr>
              <a:defRPr sz="4000" b="1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843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8DE493-92CB-A3A7-8B45-14E6D69DE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A54E6-AD53-E7C2-67F0-8429F655A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411835-CA13-ED07-56AC-841C45602C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F9E20-5233-63A8-5F73-0972027A4D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4120DFC-88C3-D728-9991-AF334B41F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0"/>
            <a:ext cx="10515600" cy="1233488"/>
          </a:xfrm>
          <a:prstGeom prst="rect">
            <a:avLst/>
          </a:prstGeom>
        </p:spPr>
        <p:txBody>
          <a:bodyPr/>
          <a:lstStyle>
            <a:lvl1pPr>
              <a:defRPr sz="4000" b="1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591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view of the earth from space&#10;&#10;AI-generated content may be incorrect.">
            <a:extLst>
              <a:ext uri="{FF2B5EF4-FFF2-40B4-BE49-F238E27FC236}">
                <a16:creationId xmlns:a16="http://schemas.microsoft.com/office/drawing/2014/main" id="{DE439396-08C5-6724-7648-88EB723D85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641"/>
            <a:ext cx="12188952" cy="685671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91DC91A-835F-9721-135C-C9A79954D374}"/>
              </a:ext>
            </a:extLst>
          </p:cNvPr>
          <p:cNvSpPr/>
          <p:nvPr userDrawn="1"/>
        </p:nvSpPr>
        <p:spPr>
          <a:xfrm>
            <a:off x="369988" y="355305"/>
            <a:ext cx="11452024" cy="6147391"/>
          </a:xfrm>
          <a:prstGeom prst="rect">
            <a:avLst/>
          </a:prstGeom>
          <a:solidFill>
            <a:schemeClr val="bg1">
              <a:alpha val="8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1DCD266-E862-837F-71D9-1C060EC8ADAC}"/>
              </a:ext>
            </a:extLst>
          </p:cNvPr>
          <p:cNvSpPr txBox="1">
            <a:spLocks/>
          </p:cNvSpPr>
          <p:nvPr userDrawn="1"/>
        </p:nvSpPr>
        <p:spPr>
          <a:xfrm>
            <a:off x="753731" y="471635"/>
            <a:ext cx="109302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F9ABD7D-D652-18B7-429D-5F4CCA5820E6}"/>
              </a:ext>
            </a:extLst>
          </p:cNvPr>
          <p:cNvSpPr txBox="1">
            <a:spLocks/>
          </p:cNvSpPr>
          <p:nvPr userDrawn="1"/>
        </p:nvSpPr>
        <p:spPr>
          <a:xfrm>
            <a:off x="755255" y="182343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892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1E466B-571E-84E1-FF7A-9467D679F1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2372" y="839973"/>
            <a:ext cx="10207255" cy="1934758"/>
          </a:xfrm>
        </p:spPr>
        <p:txBody>
          <a:bodyPr lIns="91440" tIns="45720" rIns="91440" bIns="45720" anchor="b"/>
          <a:lstStyle/>
          <a:p>
            <a:r>
              <a:rPr lang="en-US" sz="4800" b="0" dirty="0"/>
              <a:t>From API Calls to Analysis‑Ready Zarr: Leveraging NASA POWER on AWS for Scalable </a:t>
            </a:r>
            <a:r>
              <a:rPr lang="en-US" sz="4800" b="0" dirty="0" err="1"/>
              <a:t>Agro</a:t>
            </a:r>
            <a:r>
              <a:rPr lang="en-US" sz="4800" b="0" dirty="0"/>
              <a:t>‑Weather Services</a:t>
            </a:r>
            <a:endParaRPr lang="en-US" sz="2800" dirty="0">
              <a:latin typeface="Cambria"/>
              <a:ea typeface="Cambria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5A4BF5B-8986-D316-E393-D805C05639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2371" y="2798945"/>
            <a:ext cx="10207255" cy="2585152"/>
          </a:xfrm>
        </p:spPr>
        <p:txBody>
          <a:bodyPr lIns="91440" tIns="45720" rIns="91440" bIns="45720" anchor="t"/>
          <a:lstStyle/>
          <a:p>
            <a:r>
              <a:rPr lang="en-US" sz="2800" dirty="0">
                <a:latin typeface="Cambria"/>
                <a:ea typeface="Cambria"/>
              </a:rPr>
              <a:t>Dr. Pavan </a:t>
            </a:r>
            <a:r>
              <a:rPr lang="en-US" sz="2800" dirty="0" err="1">
                <a:latin typeface="Cambria"/>
                <a:ea typeface="Cambria"/>
              </a:rPr>
              <a:t>Willingthon</a:t>
            </a:r>
            <a:r>
              <a:rPr lang="en-US" sz="2800" dirty="0">
                <a:latin typeface="Cambria"/>
                <a:ea typeface="Cambria"/>
              </a:rPr>
              <a:t>, Assistant Professor</a:t>
            </a:r>
          </a:p>
          <a:p>
            <a:r>
              <a:rPr lang="en-US" sz="2800" dirty="0">
                <a:latin typeface="Cambria"/>
                <a:ea typeface="Cambria"/>
              </a:rPr>
              <a:t>University of Florida</a:t>
            </a:r>
          </a:p>
          <a:p>
            <a:r>
              <a:rPr lang="en-US" sz="2800" dirty="0">
                <a:latin typeface="Cambria"/>
              </a:rPr>
              <a:t>Florida, USA</a:t>
            </a:r>
          </a:p>
          <a:p>
            <a:endParaRPr lang="en-US" sz="500" dirty="0">
              <a:latin typeface="Cambria"/>
            </a:endParaRPr>
          </a:p>
          <a:p>
            <a:r>
              <a:rPr lang="en-US" sz="2800" dirty="0"/>
              <a:t>POWER tools used: AWS S3 Zarr (primary), POWER API (validation), Data Access Viewer (QA)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42E35F-6745-3180-8FAA-801594C10D68}"/>
              </a:ext>
            </a:extLst>
          </p:cNvPr>
          <p:cNvSpPr txBox="1"/>
          <p:nvPr/>
        </p:nvSpPr>
        <p:spPr>
          <a:xfrm>
            <a:off x="838200" y="6123801"/>
            <a:ext cx="41744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Data courtesy of NASA POWER (https://</a:t>
            </a:r>
            <a:r>
              <a:rPr lang="en-US" sz="1200" dirty="0" err="1"/>
              <a:t>power.larc.nasa.gov</a:t>
            </a:r>
            <a:r>
              <a:rPr lang="en-US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0476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DECDE-825C-374B-241A-EFAADF149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0"/>
            <a:ext cx="10515600" cy="935832"/>
          </a:xfrm>
        </p:spPr>
        <p:txBody>
          <a:bodyPr lIns="91440" tIns="45720" rIns="91440" bIns="45720" anchor="t"/>
          <a:lstStyle/>
          <a:p>
            <a:r>
              <a:rPr lang="en-US" sz="2800">
                <a:latin typeface="Cambria"/>
                <a:ea typeface="Cambria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FC3D5-DF38-C694-075E-A9F2DBD94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42982"/>
          </a:xfrm>
        </p:spPr>
        <p:txBody>
          <a:bodyPr/>
          <a:lstStyle/>
          <a:p>
            <a:pPr lvl="0"/>
            <a:r>
              <a:rPr lang="en-US" dirty="0"/>
              <a:t>Purpose: End‑to‑end </a:t>
            </a:r>
            <a:r>
              <a:rPr lang="en-US" dirty="0" err="1"/>
              <a:t>agro</a:t>
            </a:r>
            <a:r>
              <a:rPr lang="en-US" dirty="0"/>
              <a:t>‑weather service powered by NASA POWER</a:t>
            </a:r>
          </a:p>
          <a:p>
            <a:pPr lvl="0"/>
            <a:r>
              <a:rPr lang="en-US" dirty="0"/>
              <a:t>What: CHIRPS precipitation + NASA POWER meteorology for time series, stats, and ICASA weather files</a:t>
            </a:r>
          </a:p>
          <a:p>
            <a:pPr lvl="0"/>
            <a:r>
              <a:rPr lang="en-US" dirty="0"/>
              <a:t>Who: Serves agronomists, researchers, and local farmers via a web app and an API</a:t>
            </a:r>
          </a:p>
          <a:p>
            <a:pPr lvl="0"/>
            <a:r>
              <a:rPr lang="en-US" dirty="0"/>
              <a:t>Backbone: NASA POWER MERRA‑2 (T2M, TMAX, TMIN, TDEW, RH2M, WS2M, PRECTOTCORR) and solar (SRB/SYN1deg/</a:t>
            </a:r>
            <a:r>
              <a:rPr lang="en-US" dirty="0" err="1"/>
              <a:t>FLASHFlux</a:t>
            </a:r>
            <a:r>
              <a:rPr lang="en-US" dirty="0"/>
              <a:t>) in Zarr on AWS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7A1347-EB1E-1B3B-9798-919DE8FCA870}"/>
              </a:ext>
            </a:extLst>
          </p:cNvPr>
          <p:cNvSpPr txBox="1"/>
          <p:nvPr/>
        </p:nvSpPr>
        <p:spPr>
          <a:xfrm>
            <a:off x="838200" y="6123801"/>
            <a:ext cx="41744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Data courtesy of NASA POWER (https://</a:t>
            </a:r>
            <a:r>
              <a:rPr lang="en-US" sz="1200" dirty="0" err="1"/>
              <a:t>power.larc.nasa.gov</a:t>
            </a:r>
            <a:r>
              <a:rPr lang="en-US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85626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DECDE-825C-374B-241A-EFAADF149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0"/>
            <a:ext cx="10515600" cy="765544"/>
          </a:xfrm>
        </p:spPr>
        <p:txBody>
          <a:bodyPr lIns="91440" tIns="45720" rIns="91440" bIns="45720" anchor="t"/>
          <a:lstStyle/>
          <a:p>
            <a:r>
              <a:rPr lang="en-US"/>
              <a:t>The Problem (How We Work With POWER)</a:t>
            </a:r>
            <a:endParaRPr lang="en-US" sz="2800">
              <a:latin typeface="Cambria"/>
              <a:ea typeface="Cambr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FC3D5-DF38-C694-075E-A9F2DBD94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/>
              <a:t>Decision focus: </a:t>
            </a:r>
            <a:r>
              <a:rPr lang="en-US"/>
              <a:t>Rapid, reliable weather inputs for modeling and DSSAT ICASA files at scale</a:t>
            </a:r>
          </a:p>
          <a:p>
            <a:pPr lvl="0"/>
            <a:r>
              <a:rPr lang="en-US" b="1"/>
              <a:t>Bottleneck solved: </a:t>
            </a:r>
            <a:r>
              <a:rPr lang="en-US"/>
              <a:t>API‑first prototypes hit request overhead and rate limits for batch workflows</a:t>
            </a:r>
          </a:p>
          <a:p>
            <a:pPr lvl="0"/>
            <a:r>
              <a:rPr lang="en-US" b="1"/>
              <a:t>Why POWER: </a:t>
            </a:r>
            <a:r>
              <a:rPr lang="en-US"/>
              <a:t>Consistent, temporal‑first Zarr stores on AWS remove per‑request overhead and align with daily slicing</a:t>
            </a:r>
          </a:p>
          <a:p>
            <a:pPr lvl="0"/>
            <a:r>
              <a:rPr lang="en-US" b="1"/>
              <a:t>Workflow fit: </a:t>
            </a:r>
            <a:r>
              <a:rPr lang="en-US"/>
              <a:t>Date‑range cache warming + bounded local Zarr subsets enable multi‑point, multi‑year exports</a:t>
            </a:r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E49920-F8C9-8F3B-0490-03374FD747FD}"/>
              </a:ext>
            </a:extLst>
          </p:cNvPr>
          <p:cNvSpPr txBox="1"/>
          <p:nvPr/>
        </p:nvSpPr>
        <p:spPr>
          <a:xfrm>
            <a:off x="838200" y="6123801"/>
            <a:ext cx="41744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Data courtesy of NASA POWER (https://</a:t>
            </a:r>
            <a:r>
              <a:rPr lang="en-US" sz="1200" dirty="0" err="1"/>
              <a:t>power.larc.nasa.gov</a:t>
            </a:r>
            <a:r>
              <a:rPr lang="en-US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4268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DECDE-825C-374B-241A-EFAADF149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/>
              <a:t>POWER Usage (Data/Services)</a:t>
            </a:r>
            <a:endParaRPr lang="en-US" sz="2800">
              <a:latin typeface="Cambria"/>
              <a:ea typeface="Cambr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FC3D5-DF38-C694-075E-A9F2DBD94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6201578" cy="4759280"/>
          </a:xfrm>
        </p:spPr>
        <p:txBody>
          <a:bodyPr/>
          <a:lstStyle/>
          <a:p>
            <a:pPr lvl="0"/>
            <a:r>
              <a:rPr lang="en-US" b="1" dirty="0"/>
              <a:t>Datasets:</a:t>
            </a:r>
            <a:r>
              <a:rPr lang="en-US" dirty="0"/>
              <a:t> MERRA‑2 (met): T2M, T2M_MAX, T2M_MIN, T2MDEW, WS2M, RH2M, PRECTOTCORR; Solar: ALLSKY_SFC_SW_DWN (converted to SRAD)</a:t>
            </a:r>
          </a:p>
          <a:p>
            <a:pPr lvl="0"/>
            <a:r>
              <a:rPr lang="en-US" b="1" dirty="0"/>
              <a:t>Access:</a:t>
            </a:r>
            <a:r>
              <a:rPr lang="en-US" dirty="0"/>
              <a:t> AWS S3 public Zarr over HTTPS (</a:t>
            </a:r>
            <a:r>
              <a:rPr lang="en-US" dirty="0" err="1"/>
              <a:t>fsspec</a:t>
            </a:r>
            <a:r>
              <a:rPr lang="en-US" dirty="0"/>
              <a:t>/</a:t>
            </a:r>
            <a:r>
              <a:rPr lang="en-US" dirty="0" err="1"/>
              <a:t>xarray</a:t>
            </a:r>
            <a:r>
              <a:rPr lang="en-US" dirty="0"/>
              <a:t>), temporal slicing, nearest‑neighbor at 0.5°</a:t>
            </a:r>
          </a:p>
          <a:p>
            <a:pPr lvl="0"/>
            <a:r>
              <a:rPr lang="en-US" b="1" dirty="0"/>
              <a:t>Mapping:</a:t>
            </a:r>
            <a:r>
              <a:rPr lang="en-US" dirty="0"/>
              <a:t> ICASA mapping (e.g., PRECTOTCORR → RAIN1; ALLSKY_SFC_SW_DWN → SRAD MJ m⁻² d⁻¹)</a:t>
            </a:r>
          </a:p>
          <a:p>
            <a:pPr lvl="0"/>
            <a:r>
              <a:rPr lang="en-US" b="1" dirty="0"/>
              <a:t>Validation: </a:t>
            </a:r>
            <a:r>
              <a:rPr lang="en-US" dirty="0"/>
              <a:t>POWER API for spot checks; Data Access Viewer for visual QA; ArcGIS not in pipeline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E32003-CC33-DD19-A4E0-E4FF3EE77A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73521" y="1029097"/>
            <a:ext cx="4135698" cy="53268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8D4C76-15C9-7E61-F9CF-9996B1E16ED5}"/>
              </a:ext>
            </a:extLst>
          </p:cNvPr>
          <p:cNvSpPr txBox="1"/>
          <p:nvPr/>
        </p:nvSpPr>
        <p:spPr>
          <a:xfrm>
            <a:off x="838200" y="6123801"/>
            <a:ext cx="41744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Data courtesy of NASA POWER (https://</a:t>
            </a:r>
            <a:r>
              <a:rPr lang="en-US" sz="1200" dirty="0" err="1"/>
              <a:t>power.larc.nasa.gov</a:t>
            </a:r>
            <a:r>
              <a:rPr lang="en-US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21581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594AF-396B-A808-2DA2-1256D028A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E199F-214E-F670-1FCF-0F8993AF0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/>
              <a:t>Results to Date (Real‑World Impact)</a:t>
            </a:r>
            <a:endParaRPr lang="en-US" sz="3200">
              <a:latin typeface="Cambria"/>
              <a:ea typeface="Cambr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238EA-7D97-3B87-3314-D0939A99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19800" cy="2418571"/>
          </a:xfrm>
        </p:spPr>
        <p:txBody>
          <a:bodyPr/>
          <a:lstStyle/>
          <a:p>
            <a:pPr lvl="0"/>
            <a:r>
              <a:rPr lang="en-US" b="1" dirty="0"/>
              <a:t>Speed:</a:t>
            </a:r>
            <a:r>
              <a:rPr lang="en-US" dirty="0"/>
              <a:t> Batch ICASA export scales to large shapefiles with cache‑aware slicing (date‑range warm + local subset reuse)</a:t>
            </a:r>
          </a:p>
          <a:p>
            <a:pPr lvl="0"/>
            <a:r>
              <a:rPr lang="en-US" b="1" dirty="0"/>
              <a:t>Reliability:</a:t>
            </a:r>
            <a:r>
              <a:rPr lang="en-US" dirty="0"/>
              <a:t> No rate‑limit concerns; consistent daily coverage; reproducible outputs for audits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1906D1-3BCA-4E78-F8D5-152656BB90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970300" y="1190455"/>
            <a:ext cx="4383500" cy="52103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113370-1F39-D4DA-D0B4-9425E21D1C2F}"/>
              </a:ext>
            </a:extLst>
          </p:cNvPr>
          <p:cNvSpPr txBox="1"/>
          <p:nvPr/>
        </p:nvSpPr>
        <p:spPr>
          <a:xfrm>
            <a:off x="838200" y="6123801"/>
            <a:ext cx="41744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Data courtesy of NASA POWER (https://</a:t>
            </a:r>
            <a:r>
              <a:rPr lang="en-US" sz="1200" dirty="0" err="1"/>
              <a:t>power.larc.nasa.gov</a:t>
            </a:r>
            <a:r>
              <a:rPr lang="en-US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21061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DECDE-825C-374B-241A-EFAADF149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/>
              <a:t>Results to Date (Real‑World Impact) cont.</a:t>
            </a:r>
            <a:endParaRPr lang="en-US" sz="3200" dirty="0">
              <a:latin typeface="Cambria"/>
              <a:ea typeface="Cambr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FC3D5-DF38-C694-075E-A9F2DBD94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68041" cy="3470994"/>
          </a:xfrm>
        </p:spPr>
        <p:txBody>
          <a:bodyPr/>
          <a:lstStyle/>
          <a:p>
            <a:pPr lvl="0"/>
            <a:r>
              <a:rPr lang="en-US" b="1" dirty="0"/>
              <a:t>Downstream: </a:t>
            </a:r>
            <a:r>
              <a:rPr lang="en-US" dirty="0"/>
              <a:t>Multi‑agent DSSAT chatbot uses the same backend API to automate end‑to‑end essays: weather, soils, experiments, run DSSAT, embed outputs to a vector DB, and answer questions in natural language</a:t>
            </a:r>
          </a:p>
          <a:p>
            <a:pPr lvl="0"/>
            <a:r>
              <a:rPr lang="en-US" b="1" dirty="0"/>
              <a:t>Beneficiaries:</a:t>
            </a:r>
            <a:r>
              <a:rPr lang="en-US" dirty="0"/>
              <a:t> Extension agents and local farmers gain pre‑season planning insight (planting windows, stress risk, irrigation need)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E0DEE8-91BF-EC38-C25C-44D4B3C697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918384" y="1073944"/>
            <a:ext cx="4435415" cy="53268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854123-9407-A251-ED16-103C681E821D}"/>
              </a:ext>
            </a:extLst>
          </p:cNvPr>
          <p:cNvSpPr txBox="1"/>
          <p:nvPr/>
        </p:nvSpPr>
        <p:spPr>
          <a:xfrm>
            <a:off x="838200" y="6123801"/>
            <a:ext cx="41744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Data courtesy of NASA POWER (https://</a:t>
            </a:r>
            <a:r>
              <a:rPr lang="en-US" sz="1200" dirty="0" err="1"/>
              <a:t>power.larc.nasa.gov</a:t>
            </a:r>
            <a:r>
              <a:rPr lang="en-US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65954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9BEC1-9013-95DE-13E7-BF88837E8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8FC78-BBB6-A850-BF14-871ACBD44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/>
              <a:t>Conclusions (Takeaways &amp; Recommendations)</a:t>
            </a:r>
            <a:endParaRPr lang="en-US" sz="2800">
              <a:latin typeface="Cambria"/>
              <a:ea typeface="Cambr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B5BA8-B3D1-0916-A779-9A9700176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Key takeaway: </a:t>
            </a:r>
            <a:r>
              <a:rPr lang="en-US" dirty="0"/>
              <a:t>NASA POWER on AWS Zarr is the enabler — performance, scale, and scientific integrity</a:t>
            </a:r>
          </a:p>
          <a:p>
            <a:pPr lvl="0"/>
            <a:r>
              <a:rPr lang="en-US" b="1" dirty="0"/>
              <a:t>Trade‑offs: </a:t>
            </a:r>
            <a:r>
              <a:rPr lang="en-US" dirty="0"/>
              <a:t>Manage local cache lifecycle; accept 0.5° resolution; handle solar era transitions</a:t>
            </a:r>
          </a:p>
          <a:p>
            <a:pPr lvl="0"/>
            <a:r>
              <a:rPr lang="en-US" b="1" dirty="0"/>
              <a:t>Recommendation:</a:t>
            </a:r>
            <a:r>
              <a:rPr lang="en-US" dirty="0"/>
              <a:t> Keep investing in analysis‑ready Zarr and clear variable/era metadata; it directly accelerates operational adoption</a:t>
            </a:r>
          </a:p>
          <a:p>
            <a:pPr lvl="0"/>
            <a:r>
              <a:rPr lang="en-US" b="1" dirty="0"/>
              <a:t>Thanks: </a:t>
            </a:r>
            <a:r>
              <a:rPr lang="en-US" dirty="0"/>
              <a:t>Appreciation to the POWER team for open data, documentation, and S3 hosting</a:t>
            </a:r>
          </a:p>
          <a:p>
            <a:pPr lvl="0"/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FBB1CC-EC0B-4BC4-4C46-0C0BFAC35967}"/>
              </a:ext>
            </a:extLst>
          </p:cNvPr>
          <p:cNvSpPr txBox="1"/>
          <p:nvPr/>
        </p:nvSpPr>
        <p:spPr>
          <a:xfrm>
            <a:off x="838200" y="6123801"/>
            <a:ext cx="41744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Data courtesy of NASA POWER (https://</a:t>
            </a:r>
            <a:r>
              <a:rPr lang="en-US" sz="1200" dirty="0" err="1"/>
              <a:t>power.larc.nasa.gov</a:t>
            </a:r>
            <a:r>
              <a:rPr lang="en-US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62522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DB1BD-937B-5492-D5B6-B539E787A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Innovation &amp; Future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C6DD4-B7DB-3D2D-E5B0-38E3FE167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/>
              <a:t>Desired POWER features:</a:t>
            </a:r>
            <a:r>
              <a:rPr lang="en-US"/>
              <a:t> Stable cross‑era variable “crosswalks,” machine‑readable change logs, a public STAC/intake catalog, and lightweight update signals (webhooks) for new days</a:t>
            </a:r>
          </a:p>
          <a:p>
            <a:pPr lvl="0"/>
            <a:r>
              <a:rPr lang="en-US" b="1"/>
              <a:t>Emerging tech:</a:t>
            </a:r>
            <a:r>
              <a:rPr lang="en-US"/>
              <a:t> AI agents orchestrating end‑to‑end modeling, anomaly QA on ingest, and RAG copilots grounded in POWER documentation and data</a:t>
            </a:r>
          </a:p>
          <a:p>
            <a:pPr lvl="0"/>
            <a:r>
              <a:rPr lang="en-US" b="1"/>
              <a:t>New opportunities: </a:t>
            </a:r>
            <a:r>
              <a:rPr lang="en-US"/>
              <a:t>Pre‑computed ag indices (e.g., ETo/ETr), standardized uncertainty layers, and event‑driven pipelines for near‑real‑time advisories</a:t>
            </a:r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CA8D51-8BEF-622E-999F-A8245857F512}"/>
              </a:ext>
            </a:extLst>
          </p:cNvPr>
          <p:cNvSpPr txBox="1"/>
          <p:nvPr/>
        </p:nvSpPr>
        <p:spPr>
          <a:xfrm>
            <a:off x="838200" y="6123801"/>
            <a:ext cx="41744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Data courtesy of NASA POWER (https://</a:t>
            </a:r>
            <a:r>
              <a:rPr lang="en-US" sz="1200" dirty="0" err="1"/>
              <a:t>power.larc.nasa.gov</a:t>
            </a:r>
            <a:r>
              <a:rPr lang="en-US" sz="1200" dirty="0"/>
              <a:t>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CEAECEC-74B5-98F8-7966-0A3F4A257447}"/>
              </a:ext>
            </a:extLst>
          </p:cNvPr>
          <p:cNvSpPr txBox="1">
            <a:spLocks/>
          </p:cNvSpPr>
          <p:nvPr/>
        </p:nvSpPr>
        <p:spPr>
          <a:xfrm>
            <a:off x="4717174" y="4943475"/>
            <a:ext cx="2757652" cy="123348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j-cs"/>
              </a:defRPr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51703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43790e14-1dab-425c-b2c8-2d9943d25d39">
      <Terms xmlns="http://schemas.microsoft.com/office/infopath/2007/PartnerControls"/>
    </lcf76f155ced4ddcb4097134ff3c332f>
    <TaxCatchAll xmlns="d900e117-17a0-4b24-9e47-511ef1d02c4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9C23B436F3AB46B872627D21B0519A" ma:contentTypeVersion="19" ma:contentTypeDescription="Create a new document." ma:contentTypeScope="" ma:versionID="694ce163fd51670e58267a419a97d18b">
  <xsd:schema xmlns:xsd="http://www.w3.org/2001/XMLSchema" xmlns:xs="http://www.w3.org/2001/XMLSchema" xmlns:p="http://schemas.microsoft.com/office/2006/metadata/properties" xmlns:ns1="http://schemas.microsoft.com/sharepoint/v3" xmlns:ns2="43790e14-1dab-425c-b2c8-2d9943d25d39" xmlns:ns3="47afa9d1-cad2-4592-9cd7-6ff0bb0403e4" xmlns:ns4="d900e117-17a0-4b24-9e47-511ef1d02c43" targetNamespace="http://schemas.microsoft.com/office/2006/metadata/properties" ma:root="true" ma:fieldsID="57088cb8ed7b35a0dd16d237bbd7e3da" ns1:_="" ns2:_="" ns3:_="" ns4:_="">
    <xsd:import namespace="http://schemas.microsoft.com/sharepoint/v3"/>
    <xsd:import namespace="43790e14-1dab-425c-b2c8-2d9943d25d39"/>
    <xsd:import namespace="47afa9d1-cad2-4592-9cd7-6ff0bb0403e4"/>
    <xsd:import namespace="d900e117-17a0-4b24-9e47-511ef1d02c43"/>
    <xsd:element name="properties">
      <xsd:complexType>
        <xsd:sequence>
          <xsd:element name="documentManagement">
            <xsd:complexType>
              <xsd:all>
                <xsd:element ref="ns1:_ip_UnifiedCompliancePolicyProperties" minOccurs="0"/>
                <xsd:element ref="ns1:_ip_UnifiedCompliancePolicyUIAction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790e14-1dab-425c-b2c8-2d9943d25d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0fb68aea-d2ee-4a6c-85e6-e4b5686e96e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afa9d1-cad2-4592-9cd7-6ff0bb0403e4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00e117-17a0-4b24-9e47-511ef1d02c43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15489534-c5c3-4594-9143-fede1bbf2c8f}" ma:internalName="TaxCatchAll" ma:showField="CatchAllData" ma:web="47afa9d1-cad2-4592-9cd7-6ff0bb0403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03402EC-E5E7-40E9-9C01-8A8E8A7E200B}">
  <ds:schemaRefs>
    <ds:schemaRef ds:uri="43790e14-1dab-425c-b2c8-2d9943d25d39"/>
    <ds:schemaRef ds:uri="47afa9d1-cad2-4592-9cd7-6ff0bb0403e4"/>
    <ds:schemaRef ds:uri="d900e117-17a0-4b24-9e47-511ef1d02c4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F3C5D70-89F5-4CF8-A1D5-4AA9C38EBD79}">
  <ds:schemaRefs>
    <ds:schemaRef ds:uri="43790e14-1dab-425c-b2c8-2d9943d25d39"/>
    <ds:schemaRef ds:uri="47afa9d1-cad2-4592-9cd7-6ff0bb0403e4"/>
    <ds:schemaRef ds:uri="d900e117-17a0-4b24-9e47-511ef1d02c4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0A1F856-4604-4FA5-8DB0-162A1087078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778</Words>
  <Application>Microsoft Macintosh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Cambria</vt:lpstr>
      <vt:lpstr>Office Theme</vt:lpstr>
      <vt:lpstr>From API Calls to Analysis‑Ready Zarr: Leveraging NASA POWER on AWS for Scalable Agro‑Weather Services</vt:lpstr>
      <vt:lpstr>Introduction</vt:lpstr>
      <vt:lpstr>The Problem (How We Work With POWER)</vt:lpstr>
      <vt:lpstr>POWER Usage (Data/Services)</vt:lpstr>
      <vt:lpstr>Results to Date (Real‑World Impact)</vt:lpstr>
      <vt:lpstr>Results to Date (Real‑World Impact) cont.</vt:lpstr>
      <vt:lpstr>Conclusions (Takeaways &amp; Recommendations)</vt:lpstr>
      <vt:lpstr>Innovation &amp; Future Vision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Jolly, Haley C. (LARC-E302)[BOOZ ALLEN HAMILTON INC]</dc:creator>
  <cp:lastModifiedBy>Wael, Mohammad</cp:lastModifiedBy>
  <cp:revision>8</cp:revision>
  <dcterms:created xsi:type="dcterms:W3CDTF">2025-08-06T17:54:03Z</dcterms:created>
  <dcterms:modified xsi:type="dcterms:W3CDTF">2026-09-04T20:13:52Z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0x010100EC9C23B436F3AB46B872627D21B0519A</vt:lpwstr>
  </property>
  <property fmtid="{D5CDD505-2E9C-101B-9397-08002B2CF9AE}" pid="3" name="MediaServiceImageTags">
    <vt:lpwstr/>
  </property>
</Properties>
</file>